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Overview: 1936 — The 1936 paper on computability</a:t>
            </a:r>
          </a:p>
          <a:p>
            <a:r>
              <a:t>Key influence: Conceptual foundations for AI; formalized computation via the universal machine, enabling algorithms and symbolic manipulation as a substrate for intelligent systems.</a:t>
            </a:r>
          </a:p>
          <a:p>
            <a:r>
              <a:t>Details: Establishes limits and possibilities of machine computation (foundation for later theoretical AI and complexity thinking).</a:t>
            </a:r>
          </a:p>
          <a:p/>
          <a:p>
            <a:r>
              <a:t>Timestamps (mm:ss):</a:t>
            </a:r>
          </a:p>
          <a:p>
            <a:r>
              <a:t>- Start: 01:00</a:t>
            </a:r>
          </a:p>
          <a:p>
            <a:r>
              <a:t>- Student output / demo: 02:00</a:t>
            </a:r>
          </a:p>
          <a:p>
            <a:r>
              <a:t>- Q&amp;A / discussion: 03:00</a:t>
            </a:r>
          </a:p>
          <a:p/>
          <a:p>
            <a:r>
              <a:t>Suggested talking points:</a:t>
            </a:r>
          </a:p>
          <a:p>
            <a:r>
              <a:t>- One-line summary of impact</a:t>
            </a:r>
          </a:p>
          <a:p>
            <a:r>
              <a:t>- How this ties to the model's outputs (show example)</a:t>
            </a:r>
          </a:p>
          <a:p>
            <a:r>
              <a:t>- 1 question for coach/team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Overview: 1939 — Bletchley Park and Enigma</a:t>
            </a:r>
          </a:p>
          <a:p>
            <a:r>
              <a:t>Key influence: Practical legacy and machine-assisted reasoning; demonstrated how computation could solve real strategic problems and introduced engineering approaches to automate reasoning.</a:t>
            </a:r>
          </a:p>
          <a:p>
            <a:r>
              <a:t>Details: Shaped algorithmic problem-solving and practical systems engineering used in AI pipelines (search, heuristics, automation).</a:t>
            </a:r>
          </a:p>
          <a:p/>
          <a:p>
            <a:r>
              <a:t>Timestamps (mm:ss):</a:t>
            </a:r>
          </a:p>
          <a:p>
            <a:r>
              <a:t>- Start: 03:00</a:t>
            </a:r>
          </a:p>
          <a:p>
            <a:r>
              <a:t>- Student output / demo: 04:00</a:t>
            </a:r>
          </a:p>
          <a:p>
            <a:r>
              <a:t>- Q&amp;A / discussion: 05:00</a:t>
            </a:r>
          </a:p>
          <a:p/>
          <a:p>
            <a:r>
              <a:t>Suggested talking points:</a:t>
            </a:r>
          </a:p>
          <a:p>
            <a:r>
              <a:t>- One-line summary of impact</a:t>
            </a:r>
          </a:p>
          <a:p>
            <a:r>
              <a:t>- How this ties to the model's outputs (show example)</a:t>
            </a:r>
          </a:p>
          <a:p>
            <a:r>
              <a:t>- 1 question for coach/team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Overview: 1942 — The Bombe and machine-assisted cryptanalysis</a:t>
            </a:r>
          </a:p>
          <a:p>
            <a:r>
              <a:t>Key influence: Early automation of reasoning tasks; the Bombe exemplifies mechanizing search and deduction, precursors to programmatic problem solvers.</a:t>
            </a:r>
          </a:p>
          <a:p>
            <a:r>
              <a:t>Details: Practical example of hardware/software co-design for complex tasks—relevant to later AI system design.</a:t>
            </a:r>
          </a:p>
          <a:p/>
          <a:p>
            <a:r>
              <a:t>Timestamps (mm:ss):</a:t>
            </a:r>
          </a:p>
          <a:p>
            <a:r>
              <a:t>- Start: 05:00</a:t>
            </a:r>
          </a:p>
          <a:p>
            <a:r>
              <a:t>- Student output / demo: 06:00</a:t>
            </a:r>
          </a:p>
          <a:p>
            <a:r>
              <a:t>- Q&amp;A / discussion: 07:00</a:t>
            </a:r>
          </a:p>
          <a:p/>
          <a:p>
            <a:r>
              <a:t>Suggested talking points:</a:t>
            </a:r>
          </a:p>
          <a:p>
            <a:r>
              <a:t>- One-line summary of impact</a:t>
            </a:r>
          </a:p>
          <a:p>
            <a:r>
              <a:t>- How this ties to the model's outputs (show example)</a:t>
            </a:r>
          </a:p>
          <a:p>
            <a:r>
              <a:t>- 1 question for coach/team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Overview: 1945 — The ACE design proposal</a:t>
            </a:r>
          </a:p>
          <a:p>
            <a:r>
              <a:t>Key influence: Machine design and general-purpose computing; the ACE reflects a vision for programmable machines capable of broad tasks, foreshadowing architectures for general AI research.</a:t>
            </a:r>
          </a:p>
          <a:p>
            <a:r>
              <a:t>Details: Emphasizes programmability and flexible architectures central to modern AI platforms.</a:t>
            </a:r>
          </a:p>
          <a:p/>
          <a:p>
            <a:r>
              <a:t>Timestamps (mm:ss):</a:t>
            </a:r>
          </a:p>
          <a:p>
            <a:r>
              <a:t>- Start: 07:00</a:t>
            </a:r>
          </a:p>
          <a:p>
            <a:r>
              <a:t>- Student output / demo: 08:00</a:t>
            </a:r>
          </a:p>
          <a:p>
            <a:r>
              <a:t>- Q&amp;A / discussion: 09:00</a:t>
            </a:r>
          </a:p>
          <a:p/>
          <a:p>
            <a:r>
              <a:t>Suggested talking points:</a:t>
            </a:r>
          </a:p>
          <a:p>
            <a:r>
              <a:t>- One-line summary of impact</a:t>
            </a:r>
          </a:p>
          <a:p>
            <a:r>
              <a:t>- How this ties to the model's outputs (show example)</a:t>
            </a:r>
          </a:p>
          <a:p>
            <a:r>
              <a:t>- 1 question for coach/team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Overview: 1950 — The imitation game paper</a:t>
            </a:r>
          </a:p>
          <a:p>
            <a:r>
              <a:t>Key influence: Operational test for machine intelligence; the imitation game (Turing Test) reframed intelligence as observable behavior, steering evaluation frameworks and philosophical debates in AI.</a:t>
            </a:r>
          </a:p>
          <a:p>
            <a:r>
              <a:t>Details: Influenced benchmarks, evaluation thinking, and questions about cognition vs. behavior.</a:t>
            </a:r>
          </a:p>
          <a:p/>
          <a:p>
            <a:r>
              <a:t>Timestamps (mm:ss):</a:t>
            </a:r>
          </a:p>
          <a:p>
            <a:r>
              <a:t>- Start: 09:00</a:t>
            </a:r>
          </a:p>
          <a:p>
            <a:r>
              <a:t>- Student output / demo: 10:00</a:t>
            </a:r>
          </a:p>
          <a:p>
            <a:r>
              <a:t>- Q&amp;A / discussion: 11:00</a:t>
            </a:r>
          </a:p>
          <a:p/>
          <a:p>
            <a:r>
              <a:t>Suggested talking points:</a:t>
            </a:r>
          </a:p>
          <a:p>
            <a:r>
              <a:t>- One-line summary of impact</a:t>
            </a:r>
          </a:p>
          <a:p>
            <a:r>
              <a:t>- How this ties to the model's outputs (show example)</a:t>
            </a:r>
          </a:p>
          <a:p>
            <a:r>
              <a:t>- 1 question for coach/team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Overview: 1952 — Later life and public persecution</a:t>
            </a:r>
          </a:p>
          <a:p>
            <a:r>
              <a:t>Key influence: Ethical and societal framing; Turring's personal story highlights the human, social, and ethical contexts around technology and those who build it.</a:t>
            </a:r>
          </a:p>
          <a:p>
            <a:r>
              <a:t>Details: Informs modern AI ethics discussions about accountability, social impact, and the treatment of technologists.</a:t>
            </a:r>
          </a:p>
          <a:p/>
          <a:p>
            <a:r>
              <a:t>Timestamps (mm:ss):</a:t>
            </a:r>
          </a:p>
          <a:p>
            <a:r>
              <a:t>- Start: 11:00</a:t>
            </a:r>
          </a:p>
          <a:p>
            <a:r>
              <a:t>- Student output / demo: 12:00</a:t>
            </a:r>
          </a:p>
          <a:p>
            <a:r>
              <a:t>- Q&amp;A / discussion: 13:00</a:t>
            </a:r>
          </a:p>
          <a:p/>
          <a:p>
            <a:r>
              <a:t>Suggested talking points:</a:t>
            </a:r>
          </a:p>
          <a:p>
            <a:r>
              <a:t>- One-line summary of impact</a:t>
            </a:r>
          </a:p>
          <a:p>
            <a:r>
              <a:t>- How this ties to the model's outputs (show example)</a:t>
            </a:r>
          </a:p>
          <a:p>
            <a:r>
              <a:t>- 1 question for coach/team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A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Turring Influence Timeline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events and their influence 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Turring — For internal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of 7 — Est. 1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1936: The 1936 paper on computability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 algn="l"/>
            <a:r>
              <a:rPr sz="1400"/>
              <a:t>Conceptual foundations for AI; formalized computation via the universal machine, enabling algorithms and symbolic manipulation as a substrate for intelligent systems.</a:t>
            </a:r>
          </a:p>
          <a:p>
            <a:pPr lvl="1" algn="l"/>
            <a:r>
              <a:rPr sz="1400"/>
              <a:t>Establishes limits and possibilities of machine computation (foundation for later theoretical AI and complexity thinking).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Turring — Prepared for coach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Slide 2 of 7 — Est. 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1939: Bletchley Park and Enigma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 algn="l"/>
            <a:r>
              <a:rPr sz="1400"/>
              <a:t>Practical legacy and machine-assisted reasoning; demonstrated how computation could solve real strategic problems and introduced engineering approaches to automate reasoning.</a:t>
            </a:r>
          </a:p>
          <a:p>
            <a:pPr lvl="1" algn="l"/>
            <a:r>
              <a:rPr sz="1400"/>
              <a:t>Shaped algorithmic problem-solving and practical systems engineering used in AI pipelines (search, heuristics, automation).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Turring — Prepared for coach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Slide 3 of 7 — Est. 2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1942: The Bombe and machine-assisted cryptanalysis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 algn="l"/>
            <a:r>
              <a:rPr sz="1400"/>
              <a:t>Early automation of reasoning tasks; the Bombe exemplifies mechanizing search and deduction, precursors to programmatic problem solvers.</a:t>
            </a:r>
          </a:p>
          <a:p>
            <a:pPr lvl="1" algn="l"/>
            <a:r>
              <a:rPr sz="1400"/>
              <a:t>Practical example of hardware/software co-design for complex tasks—relevant to later AI system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Turring — Prepared for coach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Slide 4 of 7 — Est. 2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1945: The ACE design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 algn="l"/>
            <a:r>
              <a:rPr sz="1400"/>
              <a:t>Machine design and general-purpose computing; the ACE reflects a vision for programmable machines capable of broad tasks, foreshadowing architectures for general AI research.</a:t>
            </a:r>
          </a:p>
          <a:p>
            <a:pPr lvl="1" algn="l"/>
            <a:r>
              <a:rPr sz="1400"/>
              <a:t>Emphasizes programmability and flexible architectures central to modern AI platforms.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Turring — Prepared for coach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Slide 5 of 7 — Est. 2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1950: The imitation game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 algn="l"/>
            <a:r>
              <a:rPr sz="1400"/>
              <a:t>Operational test for machine intelligence; the imitation game (Turing Test) reframed intelligence as observable behavior, steering evaluation frameworks and philosophical debates in AI.</a:t>
            </a:r>
          </a:p>
          <a:p>
            <a:pPr lvl="1" algn="l"/>
            <a:r>
              <a:rPr sz="1400"/>
              <a:t>Influenced benchmarks, evaluation thinking, and questions about cognition vs.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Turring — Prepared for coach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Slide 6 of 7 — Est. 2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1952: Later life and public persecution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 algn="l"/>
            <a:r>
              <a:rPr sz="1400"/>
              <a:t>Ethical and societal framing; Turring's personal story highlights the human, social, and ethical contexts around technology and those who build it.</a:t>
            </a:r>
          </a:p>
          <a:p>
            <a:pPr lvl="1" algn="l"/>
            <a:r>
              <a:rPr sz="1400"/>
              <a:t>Informs modern AI ethics discussions about accountability, social impact, and the treatment of technologists.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Turring — Prepared for coach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Slide 7 of 7 — Est. 2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